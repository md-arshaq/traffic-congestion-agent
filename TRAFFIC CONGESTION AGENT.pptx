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BA6FCA-48A7-4D8C-956C-069E03EB46DE}">
  <a:tblStyle styleId="{6CBA6FCA-48A7-4D8C-956C-069E03EB46D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mohammedarshaq.cd23@bmsce.ac.in" TargetMode="External"/><Relationship Id="rId4" Type="http://schemas.openxmlformats.org/officeDocument/2006/relationships/hyperlink" Target="mailto:nazeefahsan.cd23@bmsce.ac.in" TargetMode="External"/><Relationship Id="rId5" Type="http://schemas.openxmlformats.org/officeDocument/2006/relationships/hyperlink" Target="mailto:nazeefahsan.cd23@bmsce.ac.in" TargetMode="External"/><Relationship Id="rId6" Type="http://schemas.openxmlformats.org/officeDocument/2006/relationships/hyperlink" Target="mailto:nagarajbommayya.ci23@bmsce.ac.in" TargetMode="External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md-arshaq/Traffic-Congestion-Agent" TargetMode="External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831850" y="581583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Agentic AI Hackathon: Building Intelligent Agents with IBM Granite and LangFlow</a:t>
            </a:r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i="1" lang="en-US"/>
              <a:t>TRAFFIC CONGESTION AGENT</a:t>
            </a:r>
            <a:endParaRPr b="1" i="1"/>
          </a:p>
        </p:txBody>
      </p:sp>
      <p:pic>
        <p:nvPicPr>
          <p:cNvPr id="80" name="Google Shape;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481943" y="1219200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b="1" i="0" lang="en-US" sz="35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b="1" lang="en-US" sz="35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SYNAPSE</a:t>
            </a:r>
            <a:r>
              <a:rPr b="1" i="0" lang="en-US" sz="35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190457" y="1490505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b="1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8" name="Google Shape;88;p13"/>
          <p:cNvGraphicFramePr/>
          <p:nvPr/>
        </p:nvGraphicFramePr>
        <p:xfrm>
          <a:off x="1596852" y="194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{6CBA6FCA-48A7-4D8C-956C-069E03EB46DE}</a:tableStyleId>
              </a:tblPr>
              <a:tblGrid>
                <a:gridCol w="1589125"/>
                <a:gridCol w="1880425"/>
                <a:gridCol w="1880425"/>
                <a:gridCol w="1880425"/>
              </a:tblGrid>
              <a:tr h="79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TEAM MEMBER NAME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Recent Passport Photo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</a:tr>
              <a:tr h="9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Mohammed Arshaq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u="sng">
                          <a:solidFill>
                            <a:schemeClr val="hlink"/>
                          </a:solidFill>
                          <a:hlinkClick r:id="rId3"/>
                        </a:rPr>
                        <a:t>mohammedarshaq.cd23@bmsce.ac.in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9380603624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</a:tr>
              <a:tr h="126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Nazeef Ahsan Rafiqui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u="sng">
                          <a:solidFill>
                            <a:schemeClr val="hlink"/>
                          </a:solidFill>
                          <a:hlinkClick r:id="rId4"/>
                        </a:rPr>
                        <a:t>nazeefahsan.cd23@bmsce.ac.i</a:t>
                      </a:r>
                      <a:r>
                        <a:rPr lang="en-US" u="sng">
                          <a:solidFill>
                            <a:schemeClr val="hlink"/>
                          </a:solidFill>
                          <a:hlinkClick r:id="rId5"/>
                        </a:rPr>
                        <a:t>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8310069839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7"/>
                    </a:solidFill>
                  </a:tcPr>
                </a:tc>
              </a:tr>
              <a:tr h="9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500"/>
                        <a:t>Nagaraj Nayak</a:t>
                      </a:r>
                      <a:endParaRPr sz="15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u="sng">
                          <a:solidFill>
                            <a:schemeClr val="hlink"/>
                          </a:solidFill>
                          <a:hlinkClick r:id="rId6"/>
                        </a:rPr>
                        <a:t>nagarajbommayya.ci23@bmsce.ac.in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/>
                        <a:t>+91 73384 36427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pic>
        <p:nvPicPr>
          <p:cNvPr id="89" name="Google Shape;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804672" y="1188720"/>
            <a:ext cx="7617000" cy="53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Urban traffic congestion is increasing rapidly in metropolitan cities like Bangalore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Traffic data exists, but </a:t>
            </a:r>
            <a:r>
              <a:rPr b="1" lang="en-US" sz="1500">
                <a:solidFill>
                  <a:schemeClr val="dk1"/>
                </a:solidFill>
              </a:rPr>
              <a:t>raw data is difficult to interpret in real time</a:t>
            </a:r>
            <a:br>
              <a:rPr b="1" lang="en-US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Existing systems often: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Mix analysis, causes, and explanations together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Produce unstructured, chatbot-like responses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Lack of </a:t>
            </a:r>
            <a:r>
              <a:rPr b="1" lang="en-US" sz="1500">
                <a:solidFill>
                  <a:schemeClr val="dk1"/>
                </a:solidFill>
              </a:rPr>
              <a:t>clear explainability</a:t>
            </a:r>
            <a:r>
              <a:rPr lang="en-US" sz="1500">
                <a:solidFill>
                  <a:schemeClr val="dk1"/>
                </a:solidFill>
              </a:rPr>
              <a:t> for traffic stakeholders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Need for a system that can: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Detect congestion accurately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Explain </a:t>
            </a:r>
            <a:r>
              <a:rPr i="1" lang="en-US" sz="1500">
                <a:solidFill>
                  <a:schemeClr val="dk1"/>
                </a:solidFill>
              </a:rPr>
              <a:t>what</a:t>
            </a:r>
            <a:r>
              <a:rPr lang="en-US" sz="1500">
                <a:solidFill>
                  <a:schemeClr val="dk1"/>
                </a:solidFill>
              </a:rPr>
              <a:t>, </a:t>
            </a:r>
            <a:r>
              <a:rPr i="1" lang="en-US" sz="1500">
                <a:solidFill>
                  <a:schemeClr val="dk1"/>
                </a:solidFill>
              </a:rPr>
              <a:t>why</a:t>
            </a:r>
            <a:r>
              <a:rPr lang="en-US" sz="1500">
                <a:solidFill>
                  <a:schemeClr val="dk1"/>
                </a:solidFill>
              </a:rPr>
              <a:t>, and </a:t>
            </a:r>
            <a:r>
              <a:rPr i="1" lang="en-US" sz="1500">
                <a:solidFill>
                  <a:schemeClr val="dk1"/>
                </a:solidFill>
              </a:rPr>
              <a:t>how</a:t>
            </a:r>
            <a:r>
              <a:rPr lang="en-US" sz="1500">
                <a:solidFill>
                  <a:schemeClr val="dk1"/>
                </a:solidFill>
              </a:rPr>
              <a:t> in a structured manner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95" name="Google Shape;95;p14"/>
          <p:cNvSpPr txBox="1"/>
          <p:nvPr/>
        </p:nvSpPr>
        <p:spPr>
          <a:xfrm>
            <a:off x="805056" y="447690"/>
            <a:ext cx="32268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 </a:t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1005840" y="1584102"/>
            <a:ext cx="102687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A </a:t>
            </a:r>
            <a:r>
              <a:rPr b="1" lang="en-US" sz="1500">
                <a:solidFill>
                  <a:schemeClr val="dk1"/>
                </a:solidFill>
              </a:rPr>
              <a:t>multi-agent traffic analysis system</a:t>
            </a:r>
            <a:r>
              <a:rPr lang="en-US" sz="1500">
                <a:solidFill>
                  <a:schemeClr val="dk1"/>
                </a:solidFill>
              </a:rPr>
              <a:t> built using </a:t>
            </a:r>
            <a:r>
              <a:rPr b="1" lang="en-US" sz="1500">
                <a:solidFill>
                  <a:schemeClr val="dk1"/>
                </a:solidFill>
              </a:rPr>
              <a:t>LangFlow</a:t>
            </a:r>
            <a:br>
              <a:rPr b="1" lang="en-US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Uses </a:t>
            </a:r>
            <a:r>
              <a:rPr b="1" lang="en-US" sz="1500">
                <a:solidFill>
                  <a:schemeClr val="dk1"/>
                </a:solidFill>
              </a:rPr>
              <a:t>historical traffic data (CSV)</a:t>
            </a:r>
            <a:r>
              <a:rPr lang="en-US" sz="1500">
                <a:solidFill>
                  <a:schemeClr val="dk1"/>
                </a:solidFill>
              </a:rPr>
              <a:t> for analysis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Divides responsibility across </a:t>
            </a:r>
            <a:r>
              <a:rPr b="1" lang="en-US" sz="1500">
                <a:solidFill>
                  <a:schemeClr val="dk1"/>
                </a:solidFill>
              </a:rPr>
              <a:t>three specialized AI agents</a:t>
            </a:r>
            <a:r>
              <a:rPr lang="en-US" sz="1500">
                <a:solidFill>
                  <a:schemeClr val="dk1"/>
                </a:solidFill>
              </a:rPr>
              <a:t>: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Traffic state detection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Congestion cause attribution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Human-friendly explanation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Enforces </a:t>
            </a:r>
            <a:r>
              <a:rPr b="1" lang="en-US" sz="1500">
                <a:solidFill>
                  <a:schemeClr val="dk1"/>
                </a:solidFill>
              </a:rPr>
              <a:t>strict role separation and output formats</a:t>
            </a:r>
            <a:br>
              <a:rPr b="1" lang="en-US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Produces </a:t>
            </a:r>
            <a:r>
              <a:rPr b="1" lang="en-US" sz="1500">
                <a:solidFill>
                  <a:schemeClr val="dk1"/>
                </a:solidFill>
              </a:rPr>
              <a:t>structured, predictable, and explainable outputs</a:t>
            </a:r>
            <a:endParaRPr b="1"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3" name="Google Shape;103;p15"/>
          <p:cNvSpPr txBox="1"/>
          <p:nvPr/>
        </p:nvSpPr>
        <p:spPr>
          <a:xfrm>
            <a:off x="903677" y="741143"/>
            <a:ext cx="453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 </a:t>
            </a:r>
            <a:endParaRPr/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1034450" y="1031700"/>
            <a:ext cx="10268700" cy="55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Traffic authorities need </a:t>
            </a:r>
            <a:r>
              <a:rPr b="1" lang="en-US" sz="1000">
                <a:solidFill>
                  <a:schemeClr val="dk1"/>
                </a:solidFill>
              </a:rPr>
              <a:t>clear and reliable insights</a:t>
            </a:r>
            <a:r>
              <a:rPr lang="en-US" sz="1000">
                <a:solidFill>
                  <a:schemeClr val="dk1"/>
                </a:solidFill>
              </a:rPr>
              <a:t>, not chat responses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Raw analytics are not suitable for: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Decision-makers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Demonstrations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Monitoring dashboards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Single-agent systems often: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Hallucinate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Over-explain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Mix causes and solutions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This project ensures: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Accuracy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Explainability</a:t>
            </a:r>
            <a:br>
              <a:rPr lang="en-US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Trust in AI-driven traffic analysis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 of project </a:t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1005840" y="1584102"/>
            <a:ext cx="102687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Traffic management authorities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Smart city traffic monitoring teams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Urban transport planners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Data analysts working with traffic datasets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Demonstration and academic evaluation users</a:t>
            </a:r>
            <a:br>
              <a:rPr lang="en-US"/>
            </a:b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user of project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777240" y="1207008"/>
            <a:ext cx="105156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Langflow platform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Langflow component name –  Agent , </a:t>
            </a:r>
            <a:r>
              <a:rPr lang="en-US" sz="1800"/>
              <a:t>File Loader</a:t>
            </a:r>
            <a:r>
              <a:rPr lang="en-US" sz="1800"/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, Chat input , Chat output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Grainte model -   ibm-granite-3-2-8b  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Cloud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Watsonx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/>
          <p:nvPr/>
        </p:nvSpPr>
        <p:spPr>
          <a:xfrm>
            <a:off x="1218724" y="47559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35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b="1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1064277" y="1583503"/>
            <a:ext cx="8816100" cy="3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Clear </a:t>
            </a:r>
            <a:r>
              <a:rPr b="1" lang="en-US" sz="1600">
                <a:solidFill>
                  <a:schemeClr val="dk1"/>
                </a:solidFill>
              </a:rPr>
              <a:t>agent-wise responsibility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Machine-readable outputs for dashboards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Human-readable explanations for operators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No external data dependency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Demo-ready and scalable architecture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Can be extended to: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Live traffic feeds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City-wide monitoring systems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120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sz="235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1218724" y="2660000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1218724" y="3829113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/>
        </p:nvSpPr>
        <p:spPr>
          <a:xfrm>
            <a:off x="1003545" y="364352"/>
            <a:ext cx="820782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flow diagram - Architecture blueprint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4900" y="978375"/>
            <a:ext cx="9581576" cy="51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/>
          <p:nvPr/>
        </p:nvSpPr>
        <p:spPr>
          <a:xfrm>
            <a:off x="537590" y="257164"/>
            <a:ext cx="59088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51D3A"/>
                </a:solidFill>
                <a:latin typeface="Arial"/>
                <a:ea typeface="Arial"/>
                <a:cs typeface="Arial"/>
                <a:sym typeface="Arial"/>
              </a:rPr>
              <a:t>Langflow component Used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537600" y="705675"/>
            <a:ext cx="11396400" cy="7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1) Chat Input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Accepts user traffic details (location, day type, time window)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Acts as the entry point of the system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2) IBM watsonx AI Agent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Performs traffic analysis using IBM Granite model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Used as multiple agents for: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Congestion detection and pattern analysis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Cause attribution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Explainable traffic insights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3) File Component (CSV Loader)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Loads Bangalore Traffic dataset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Acts as the single data source for all agents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4) Chat Output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Displays final traffic congestion explanation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Provides clear, human-readable results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5) Agent Instructions (System Prompt)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Defines roles and output format for each agent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Ensures explainable and structured responses</a:t>
            </a:r>
            <a:endParaRPr sz="1100">
              <a:solidFill>
                <a:schemeClr val="dk1"/>
              </a:solidFill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/>
          <p:nvPr/>
        </p:nvSpPr>
        <p:spPr>
          <a:xfrm>
            <a:off x="973349" y="391854"/>
            <a:ext cx="64446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35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b="1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750050" y="977525"/>
            <a:ext cx="10133700" cy="4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Advanced Explainability with External Factors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Future versions can incorporate external factors such as weather conditions, road incidents, public events, and construction work to provide more comprehensive and context-aware congestion explanations.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Predictive Traffic Congestion Analysis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By integrating time-series forecasting and machine learning models, the system can be enhanced to predict future congestion patterns and peak traffic periods in advance.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Decision Support for Traffic Authorities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The explainable insights generated by the system can be integrated into traffic control dashboards to assist traffic operators in planning signal timings, diversions, and policy decisions.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Public-Facing Traffic Awareness Applications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The system can be adapted into a mobile or web application to provide commuters with transparent explanations of traffic conditions, improving trust and travel planning.</a:t>
            </a:r>
            <a:endParaRPr b="0" i="0" sz="2150" u="none" cap="none" strike="noStrike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21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1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1132849" y="4321839"/>
            <a:ext cx="7468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35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b="1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URL – </a:t>
            </a:r>
            <a:r>
              <a:rPr b="0" i="0" lang="en-US" sz="185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https://github.com/md-arshaq/Traffic-Congestion-Agent</a:t>
            </a:r>
            <a:endParaRPr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50" u="none" cap="none" strike="noStrike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add link for references </a:t>
            </a:r>
            <a:endParaRPr b="0" i="0" sz="1850" u="none" cap="none" strike="noStrike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50" u="none" cap="none" strike="noStrike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6" name="Google Shape;1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